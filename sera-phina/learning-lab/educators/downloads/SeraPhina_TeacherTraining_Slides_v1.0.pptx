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58368"/>
            <a:ext cx="2926080" cy="329184"/>
          </a:xfrm>
          <a:prstGeom prst="roundRect">
            <a:avLst>
              <a:gd name="adj" fmla="val 22222"/>
            </a:avLst>
          </a:prstGeom>
          <a:solidFill>
            <a:srgbClr val="F4EDF8"/>
          </a:solidFill>
          <a:ln w="12700">
            <a:solidFill>
              <a:srgbClr val="E3D7E8">
                <a:alpha val="8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708660"/>
            <a:ext cx="2779776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6F4F8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TEACHER / SUPERVISOR TRAINING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58368" y="1325880"/>
            <a:ext cx="8412480" cy="1463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2B243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不是教老師怎麼用 AI，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2B243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而是教老師怎麼看見學生怎麼想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94944" y="2971800"/>
            <a:ext cx="804672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F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Sera.Phina Learning Lab 教師／督導教育訓練包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13232" y="3767328"/>
            <a:ext cx="320040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D7CD">
                <a:alpha val="8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3767328"/>
            <a:ext cx="73152" cy="960120"/>
          </a:xfrm>
          <a:prstGeom prst="rect">
            <a:avLst/>
          </a:prstGeom>
          <a:solidFill>
            <a:srgbClr val="2F5D50"/>
          </a:solidFill>
          <a:ln w="12700">
            <a:solidFill>
              <a:srgbClr val="2F5D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3931920"/>
            <a:ext cx="283464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B243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核心方法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32688" y="4361688"/>
            <a:ext cx="2834640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F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Think → Organize → Ask AI if needed → Discuss → Revise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60520" y="3767328"/>
            <a:ext cx="320040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D7CD">
                <a:alpha val="8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60520" y="3767328"/>
            <a:ext cx="73152" cy="960120"/>
          </a:xfrm>
          <a:prstGeom prst="rect">
            <a:avLst/>
          </a:prstGeom>
          <a:solidFill>
            <a:srgbClr val="6F4F86"/>
          </a:solidFill>
          <a:ln w="12700">
            <a:solidFill>
              <a:srgbClr val="6F4F8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79976" y="3931920"/>
            <a:ext cx="283464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B243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教學焦點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379976" y="4361688"/>
            <a:ext cx="2834640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F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回饋學生的 reasoning process，而不是只公布答案。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607808" y="3767328"/>
            <a:ext cx="320040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D7CD">
                <a:alpha val="8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07808" y="3767328"/>
            <a:ext cx="73152" cy="960120"/>
          </a:xfrm>
          <a:prstGeom prst="rect">
            <a:avLst/>
          </a:prstGeom>
          <a:solidFill>
            <a:srgbClr val="957341"/>
          </a:solidFill>
          <a:ln w="12700">
            <a:solidFill>
              <a:srgbClr val="95734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27264" y="3931920"/>
            <a:ext cx="283464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B243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適用對象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827264" y="4361688"/>
            <a:ext cx="2834640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F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教師、督導、臨床教師、實習指導者。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" y="6446520"/>
            <a:ext cx="685800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819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Sera.Phina Learning Lab · Teacher/Supervisor Training · 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786384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43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今天的訓練目標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987552"/>
            <a:ext cx="987552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F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讓老師與督導把 Sera.Phina 變成一套可操作的形成性教學方法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3291840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2700">
            <a:solidFill>
              <a:srgbClr val="DDD7CD">
                <a:alpha val="8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17320"/>
            <a:ext cx="73152" cy="1078992"/>
          </a:xfrm>
          <a:prstGeom prst="rect">
            <a:avLst/>
          </a:prstGeom>
          <a:solidFill>
            <a:srgbClr val="6F4F86"/>
          </a:solidFill>
          <a:ln w="12700">
            <a:solidFill>
              <a:srgbClr val="6F4F8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05256" y="1581912"/>
            <a:ext cx="292608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B243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1. 看見學生怎麼想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05256" y="2011680"/>
            <a:ext cx="292608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F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區分觀察、解讀、假設、證據、反證與 Missing Information。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34840" y="1417320"/>
            <a:ext cx="3291840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2700">
            <a:solidFill>
              <a:srgbClr val="DDD7CD">
                <a:alpha val="8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34840" y="1417320"/>
            <a:ext cx="73152" cy="1078992"/>
          </a:xfrm>
          <a:prstGeom prst="rect">
            <a:avLst/>
          </a:prstGeom>
          <a:solidFill>
            <a:srgbClr val="2F5D50"/>
          </a:solidFill>
          <a:ln w="12700">
            <a:solidFill>
              <a:srgbClr val="2F5D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54296" y="1581912"/>
            <a:ext cx="292608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B243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2. 以 Learning Loop 帶學習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54296" y="2011680"/>
            <a:ext cx="292608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F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把 AI 與教師回饋放在第二層，而不是第一層答案。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83880" y="1417320"/>
            <a:ext cx="3291840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2700">
            <a:solidFill>
              <a:srgbClr val="DDD7CD">
                <a:alpha val="8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83880" y="1417320"/>
            <a:ext cx="73152" cy="1078992"/>
          </a:xfrm>
          <a:prstGeom prst="rect">
            <a:avLst/>
          </a:prstGeom>
          <a:solidFill>
            <a:srgbClr val="957341"/>
          </a:solidFill>
          <a:ln w="12700">
            <a:solidFill>
              <a:srgbClr val="95734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03336" y="1581912"/>
            <a:ext cx="292608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B243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3. 練習回饋語言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403336" y="2011680"/>
            <a:ext cx="292608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F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不直接給答案，而是問出 reasoning process。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" y="2907792"/>
            <a:ext cx="3291840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2700">
            <a:solidFill>
              <a:srgbClr val="DDD7CD">
                <a:alpha val="8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" y="2907792"/>
            <a:ext cx="73152" cy="1078992"/>
          </a:xfrm>
          <a:prstGeom prst="rect">
            <a:avLst/>
          </a:prstGeom>
          <a:solidFill>
            <a:srgbClr val="2F5D50"/>
          </a:solidFill>
          <a:ln w="12700">
            <a:solidFill>
              <a:srgbClr val="2F5D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5256" y="3072384"/>
            <a:ext cx="292608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B243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4. 實作 Lab 03 案例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05256" y="3502152"/>
            <a:ext cx="292608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F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以精神健康個案練習 clinical reasoning map。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434840" y="2907792"/>
            <a:ext cx="3291840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2700">
            <a:solidFill>
              <a:srgbClr val="DDD7CD">
                <a:alpha val="8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34840" y="2907792"/>
            <a:ext cx="73152" cy="1078992"/>
          </a:xfrm>
          <a:prstGeom prst="rect">
            <a:avLst/>
          </a:prstGeom>
          <a:solidFill>
            <a:srgbClr val="6F4F86"/>
          </a:solidFill>
          <a:ln w="12700">
            <a:solidFill>
              <a:srgbClr val="6F4F8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54296" y="3072384"/>
            <a:ext cx="292608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B243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5. 設計課程應用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654296" y="3502152"/>
            <a:ext cx="292608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F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放入課前、課中、課後或臨床督導流程。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183880" y="2907792"/>
            <a:ext cx="3291840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2700">
            <a:solidFill>
              <a:srgbClr val="DDD7CD">
                <a:alpha val="8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2907792"/>
            <a:ext cx="73152" cy="1078992"/>
          </a:xfrm>
          <a:prstGeom prst="rect">
            <a:avLst/>
          </a:prstGeom>
          <a:solidFill>
            <a:srgbClr val="957341"/>
          </a:solidFill>
          <a:ln w="12700">
            <a:solidFill>
              <a:srgbClr val="95734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03336" y="3072384"/>
            <a:ext cx="292608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B243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6. 建立共同語言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403336" y="3502152"/>
            <a:ext cx="292608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F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學生、老師、督導都使用同一套推理地圖討論。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94360" y="6446520"/>
            <a:ext cx="685800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819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Sera.Phina Learning Lab · Teacher/Supervisor Training · 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786384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43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Sera.Phina 的共同學習循環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987552"/>
            <a:ext cx="987552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F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工具不是答案機，而是讓思考過程可見的容器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057400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DDD7CD">
                <a:alpha val="8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74520"/>
            <a:ext cx="73152" cy="1298448"/>
          </a:xfrm>
          <a:prstGeom prst="rect">
            <a:avLst/>
          </a:prstGeom>
          <a:solidFill>
            <a:srgbClr val="6F4F86"/>
          </a:solidFill>
          <a:ln w="12700">
            <a:solidFill>
              <a:srgbClr val="6F4F8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2039112"/>
            <a:ext cx="169164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B243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Think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8096" y="2468880"/>
            <a:ext cx="1691640" cy="5852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F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先形成自己的觀察與假設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0292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9573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880360" y="1874520"/>
            <a:ext cx="2057400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DDD7CD">
                <a:alpha val="8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80360" y="1874520"/>
            <a:ext cx="73152" cy="1298448"/>
          </a:xfrm>
          <a:prstGeom prst="rect">
            <a:avLst/>
          </a:prstGeom>
          <a:solidFill>
            <a:srgbClr val="2F5D50"/>
          </a:solidFill>
          <a:ln w="12700">
            <a:solidFill>
              <a:srgbClr val="2F5D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99816" y="2039112"/>
            <a:ext cx="169164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B243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Organize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099816" y="2468880"/>
            <a:ext cx="1691640" cy="5852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F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把事實、推論與缺失資訊分開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063240" y="1481328"/>
            <a:ext cx="50292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9573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212080" y="1874520"/>
            <a:ext cx="2057400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DDD7CD">
                <a:alpha val="8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212080" y="1874520"/>
            <a:ext cx="73152" cy="1298448"/>
          </a:xfrm>
          <a:prstGeom prst="rect">
            <a:avLst/>
          </a:prstGeom>
          <a:solidFill>
            <a:srgbClr val="6F4F86"/>
          </a:solidFill>
          <a:ln w="12700">
            <a:solidFill>
              <a:srgbClr val="6F4F8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31536" y="2039112"/>
            <a:ext cx="169164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B243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Ask AI if needed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31536" y="2468880"/>
            <a:ext cx="1691640" cy="5852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F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AI 作為反思與檢查工具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94960" y="1481328"/>
            <a:ext cx="50292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9573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03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543800" y="1874520"/>
            <a:ext cx="2057400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DDD7CD">
                <a:alpha val="8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43800" y="1874520"/>
            <a:ext cx="73152" cy="1298448"/>
          </a:xfrm>
          <a:prstGeom prst="rect">
            <a:avLst/>
          </a:prstGeom>
          <a:solidFill>
            <a:srgbClr val="2F5D50"/>
          </a:solidFill>
          <a:ln w="12700">
            <a:solidFill>
              <a:srgbClr val="2F5D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63256" y="2039112"/>
            <a:ext cx="169164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B243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Discuss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763256" y="2468880"/>
            <a:ext cx="1691640" cy="5852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F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帶回老師／督導／臨床教師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726680" y="1481328"/>
            <a:ext cx="50292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9573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04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875520" y="1874520"/>
            <a:ext cx="2057400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DDD7CD">
                <a:alpha val="8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875520" y="1874520"/>
            <a:ext cx="73152" cy="1298448"/>
          </a:xfrm>
          <a:prstGeom prst="rect">
            <a:avLst/>
          </a:prstGeom>
          <a:solidFill>
            <a:srgbClr val="6F4F86"/>
          </a:solidFill>
          <a:ln w="12700">
            <a:solidFill>
              <a:srgbClr val="6F4F8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94976" y="2039112"/>
            <a:ext cx="169164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B243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Revise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094976" y="2468880"/>
            <a:ext cx="1691640" cy="5852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F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回到原本推理修正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058400" y="1481328"/>
            <a:ext cx="50292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9573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77240" y="4617720"/>
            <a:ext cx="1060704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B243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回饋的終點不是「老師告訴答案」，而是學生能說明：我原本怎麼想、什麼讓我改變、現在我怎麼想、下一步還需要知道什麼。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94360" y="6446520"/>
            <a:ext cx="685800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819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Sera.Phina Learning Lab · Teacher/Supervisor Training · 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786384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43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三個 Lab 各自在訓練什麼？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987552"/>
            <a:ext cx="987552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F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可單獨使用，也可串成完整學習歷程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3429000" cy="2743200"/>
          </a:xfrm>
          <a:prstGeom prst="roundRect">
            <a:avLst>
              <a:gd name="adj" fmla="val 2333"/>
            </a:avLst>
          </a:prstGeom>
          <a:solidFill>
            <a:srgbClr val="FFFFFF"/>
          </a:solidFill>
          <a:ln w="12700">
            <a:solidFill>
              <a:srgbClr val="DDD7CD">
                <a:alpha val="8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17320"/>
            <a:ext cx="73152" cy="2743200"/>
          </a:xfrm>
          <a:prstGeom prst="rect">
            <a:avLst/>
          </a:prstGeom>
          <a:solidFill>
            <a:srgbClr val="6F4F86"/>
          </a:solidFill>
          <a:ln w="12700">
            <a:solidFill>
              <a:srgbClr val="6F4F8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05256" y="1581912"/>
            <a:ext cx="306324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B243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Lab 01｜會談實驗室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05256" y="2011680"/>
            <a:ext cx="3063240" cy="20299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F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訓練：治療關係、提問、聆聽、職能探索、目標設定。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F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教師看：問得是否有目的、是否能回應個案。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1417320"/>
            <a:ext cx="3429000" cy="2743200"/>
          </a:xfrm>
          <a:prstGeom prst="roundRect">
            <a:avLst>
              <a:gd name="adj" fmla="val 2333"/>
            </a:avLst>
          </a:prstGeom>
          <a:solidFill>
            <a:srgbClr val="FFFFFF"/>
          </a:solidFill>
          <a:ln w="12700">
            <a:solidFill>
              <a:srgbClr val="DDD7CD">
                <a:alpha val="8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89120" y="1417320"/>
            <a:ext cx="73152" cy="2743200"/>
          </a:xfrm>
          <a:prstGeom prst="rect">
            <a:avLst/>
          </a:prstGeom>
          <a:solidFill>
            <a:srgbClr val="2F5D50"/>
          </a:solidFill>
          <a:ln w="12700">
            <a:solidFill>
              <a:srgbClr val="2F5D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08576" y="1581912"/>
            <a:ext cx="306324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B243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Lab 02｜研究共學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08576" y="2011680"/>
            <a:ext cx="3063240" cy="20299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F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訓練：研究問題形成、證據需求、AI 使用透明度。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F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教師看：學生知道 AI 不能取代哪些判斷。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92440" y="1417320"/>
            <a:ext cx="3429000" cy="2743200"/>
          </a:xfrm>
          <a:prstGeom prst="roundRect">
            <a:avLst>
              <a:gd name="adj" fmla="val 2333"/>
            </a:avLst>
          </a:prstGeom>
          <a:solidFill>
            <a:srgbClr val="FFFFFF"/>
          </a:solidFill>
          <a:ln w="12700">
            <a:solidFill>
              <a:srgbClr val="DDD7CD">
                <a:alpha val="8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92440" y="1417320"/>
            <a:ext cx="73152" cy="2743200"/>
          </a:xfrm>
          <a:prstGeom prst="rect">
            <a:avLst/>
          </a:prstGeom>
          <a:solidFill>
            <a:srgbClr val="957341"/>
          </a:solidFill>
          <a:ln w="12700">
            <a:solidFill>
              <a:srgbClr val="95734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11896" y="1581912"/>
            <a:ext cx="306324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B243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Lab 03｜臨床推理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11896" y="2011680"/>
            <a:ext cx="3063240" cy="20299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F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訓練：診斷假設、反證、Missing Information、Occupation、Assessment/FOR。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F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教師看：學生如何修正原本假設。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6446520"/>
            <a:ext cx="685800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819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Sera.Phina Learning Lab · Teacher/Supervisor Training · 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786384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43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建議工作坊流程：120 分鐘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987552"/>
            <a:ext cx="987552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F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從理念到實作，再到回饋語言與課程設計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22960" y="1444752"/>
            <a:ext cx="182880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DDD7C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527048"/>
            <a:ext cx="146304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6F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0-10 分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88920" y="1444752"/>
            <a:ext cx="818388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DDD7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71800" y="1527048"/>
            <a:ext cx="749808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B243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開場與定位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" y="2029968"/>
            <a:ext cx="182880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DDD7C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112264"/>
            <a:ext cx="146304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6F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10-25 分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88920" y="2029968"/>
            <a:ext cx="818388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DDD7C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71800" y="2112264"/>
            <a:ext cx="749808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B243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Learning Loop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2615184"/>
            <a:ext cx="182880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DDD7C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2697480"/>
            <a:ext cx="146304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6F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25-45 分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88920" y="2615184"/>
            <a:ext cx="818388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DDD7C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71800" y="2697480"/>
            <a:ext cx="749808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B243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三個 Lab 導覽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" y="3200400"/>
            <a:ext cx="1828800" cy="402336"/>
          </a:xfrm>
          <a:prstGeom prst="roundRect">
            <a:avLst>
              <a:gd name="adj" fmla="val 13636"/>
            </a:avLst>
          </a:prstGeom>
          <a:solidFill>
            <a:srgbClr val="F4EDF8"/>
          </a:solidFill>
          <a:ln w="12700">
            <a:solidFill>
              <a:srgbClr val="DDD7C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3282696"/>
            <a:ext cx="146304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6F4F8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45-75 分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88920" y="3200400"/>
            <a:ext cx="8183880" cy="402336"/>
          </a:xfrm>
          <a:prstGeom prst="roundRect">
            <a:avLst>
              <a:gd name="adj" fmla="val 13636"/>
            </a:avLst>
          </a:prstGeom>
          <a:solidFill>
            <a:srgbClr val="F4EDF8"/>
          </a:solidFill>
          <a:ln w="12700">
            <a:solidFill>
              <a:srgbClr val="DDD7C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71800" y="3282696"/>
            <a:ext cx="749808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6F4F8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Lab 03 案例實作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2960" y="3785616"/>
            <a:ext cx="182880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DDD7C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3867912"/>
            <a:ext cx="146304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6F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75-95 分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88920" y="3785616"/>
            <a:ext cx="818388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DDD7C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71800" y="3867912"/>
            <a:ext cx="749808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B243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教師回饋練習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22960" y="4370832"/>
            <a:ext cx="182880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DDD7C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0120" y="4453128"/>
            <a:ext cx="146304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6F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95-110 分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88920" y="4370832"/>
            <a:ext cx="818388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DDD7C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71800" y="4453128"/>
            <a:ext cx="749808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B243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課程／督導設計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22960" y="4956048"/>
            <a:ext cx="182880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DDD7C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60120" y="5038344"/>
            <a:ext cx="146304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6F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110-120 分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88920" y="4956048"/>
            <a:ext cx="818388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DDD7C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71800" y="5038344"/>
            <a:ext cx="749808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B243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收斂與行動承諾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94360" y="6446520"/>
            <a:ext cx="685800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819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Sera.Phina Learning Lab · Teacher/Supervisor Training · 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786384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43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Lab 03 實作：不要先猜診斷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987552"/>
            <a:ext cx="987552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F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先讓學生把觀察、假設、反證與缺失資訊整理出來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301752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DDD7CD">
                <a:alpha val="8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17320"/>
            <a:ext cx="73152" cy="1051560"/>
          </a:xfrm>
          <a:prstGeom prst="rect">
            <a:avLst/>
          </a:prstGeom>
          <a:solidFill>
            <a:srgbClr val="6F4F86"/>
          </a:solidFill>
          <a:ln w="12700">
            <a:solidFill>
              <a:srgbClr val="6F4F8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05256" y="1581912"/>
            <a:ext cx="265176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B243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Step 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05256" y="2011680"/>
            <a:ext cx="2651760" cy="3383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F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列出 Known facts 與 Symptoms/signs。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977640" y="1417320"/>
            <a:ext cx="301752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DDD7CD">
                <a:alpha val="8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77640" y="1417320"/>
            <a:ext cx="73152" cy="1051560"/>
          </a:xfrm>
          <a:prstGeom prst="rect">
            <a:avLst/>
          </a:prstGeom>
          <a:solidFill>
            <a:srgbClr val="2F5D50"/>
          </a:solidFill>
          <a:ln w="12700">
            <a:solidFill>
              <a:srgbClr val="2F5D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97096" y="1581912"/>
            <a:ext cx="265176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B243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Step 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197096" y="2011680"/>
            <a:ext cx="2651760" cy="3383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F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提出 1–3 個假設，但至少列反證。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269480" y="1417320"/>
            <a:ext cx="301752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DDD7CD">
                <a:alpha val="8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269480" y="1417320"/>
            <a:ext cx="73152" cy="1051560"/>
          </a:xfrm>
          <a:prstGeom prst="rect">
            <a:avLst/>
          </a:prstGeom>
          <a:solidFill>
            <a:srgbClr val="957341"/>
          </a:solidFill>
          <a:ln w="12700">
            <a:solidFill>
              <a:srgbClr val="95734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88936" y="1581912"/>
            <a:ext cx="265176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B243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Step 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488936" y="2011680"/>
            <a:ext cx="2651760" cy="3383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F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列出 Missing Information 與優先順序。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" y="2926080"/>
            <a:ext cx="301752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DDD7CD">
                <a:alpha val="8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" y="2926080"/>
            <a:ext cx="73152" cy="1051560"/>
          </a:xfrm>
          <a:prstGeom prst="rect">
            <a:avLst/>
          </a:prstGeom>
          <a:solidFill>
            <a:srgbClr val="2F5D50"/>
          </a:solidFill>
          <a:ln w="12700">
            <a:solidFill>
              <a:srgbClr val="2F5D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5256" y="3090672"/>
            <a:ext cx="265176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B243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Step 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05256" y="3520440"/>
            <a:ext cx="2651760" cy="3383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F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回到 Occupation、角色、routine、environment。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977640" y="2926080"/>
            <a:ext cx="301752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DDD7CD">
                <a:alpha val="8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977640" y="2926080"/>
            <a:ext cx="73152" cy="1051560"/>
          </a:xfrm>
          <a:prstGeom prst="rect">
            <a:avLst/>
          </a:prstGeom>
          <a:solidFill>
            <a:srgbClr val="6F4F86"/>
          </a:solidFill>
          <a:ln w="12700">
            <a:solidFill>
              <a:srgbClr val="6F4F8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97096" y="3090672"/>
            <a:ext cx="265176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B243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Step 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197096" y="3520440"/>
            <a:ext cx="2651760" cy="3383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F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選擇 Assessment/FOR，說明臨床問題。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269480" y="2926080"/>
            <a:ext cx="301752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DDD7CD">
                <a:alpha val="8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69480" y="2926080"/>
            <a:ext cx="73152" cy="1051560"/>
          </a:xfrm>
          <a:prstGeom prst="rect">
            <a:avLst/>
          </a:prstGeom>
          <a:solidFill>
            <a:srgbClr val="957341"/>
          </a:solidFill>
          <a:ln w="12700">
            <a:solidFill>
              <a:srgbClr val="95734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88936" y="3090672"/>
            <a:ext cx="265176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B243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Step 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488936" y="3520440"/>
            <a:ext cx="2651760" cy="3383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F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整理成老師討論版，接受回饋後修正。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94360" y="6446520"/>
            <a:ext cx="685800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819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Sera.Phina Learning Lab · Teacher/Supervisor Training · 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786384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43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教師回饋：不直接給答案，而是追問推理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987552"/>
            <a:ext cx="987552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F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這些問題可以直接拿來用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85800" y="1508760"/>
            <a:ext cx="347472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DDD7CD">
                <a:alpha val="8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508760"/>
            <a:ext cx="73152" cy="1051560"/>
          </a:xfrm>
          <a:prstGeom prst="rect">
            <a:avLst/>
          </a:prstGeom>
          <a:solidFill>
            <a:srgbClr val="6F4F86"/>
          </a:solidFill>
          <a:ln w="12700">
            <a:solidFill>
              <a:srgbClr val="6F4F8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05256" y="1673352"/>
            <a:ext cx="310896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B243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釐清事實與推論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05256" y="2103120"/>
            <a:ext cx="3108960" cy="3383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F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哪些是觀察到的資料？哪些是你的解讀？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34840" y="1508760"/>
            <a:ext cx="347472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DDD7CD">
                <a:alpha val="8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34840" y="1508760"/>
            <a:ext cx="73152" cy="1051560"/>
          </a:xfrm>
          <a:prstGeom prst="rect">
            <a:avLst/>
          </a:prstGeom>
          <a:solidFill>
            <a:srgbClr val="2F5D50"/>
          </a:solidFill>
          <a:ln w="12700">
            <a:solidFill>
              <a:srgbClr val="2F5D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54296" y="1673352"/>
            <a:ext cx="310896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B243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檢查假設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54296" y="2103120"/>
            <a:ext cx="3108960" cy="3383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F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哪些支持？哪些不符合？若假設錯了還有哪些可能？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83880" y="1508760"/>
            <a:ext cx="347472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DDD7CD">
                <a:alpha val="8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83880" y="1508760"/>
            <a:ext cx="73152" cy="1051560"/>
          </a:xfrm>
          <a:prstGeom prst="rect">
            <a:avLst/>
          </a:prstGeom>
          <a:solidFill>
            <a:srgbClr val="957341"/>
          </a:solidFill>
          <a:ln w="12700">
            <a:solidFill>
              <a:srgbClr val="95734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03336" y="1673352"/>
            <a:ext cx="310896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B243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找 Missing Information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403336" y="2103120"/>
            <a:ext cx="3108960" cy="3383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F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現在還缺哪三項資訊？哪一項最優先？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" y="2743200"/>
            <a:ext cx="347472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DDD7CD">
                <a:alpha val="8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" y="2743200"/>
            <a:ext cx="73152" cy="1051560"/>
          </a:xfrm>
          <a:prstGeom prst="rect">
            <a:avLst/>
          </a:prstGeom>
          <a:solidFill>
            <a:srgbClr val="2F5D50"/>
          </a:solidFill>
          <a:ln w="12700">
            <a:solidFill>
              <a:srgbClr val="2F5D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5256" y="2907792"/>
            <a:ext cx="310896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B243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回到 Occupation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05256" y="3337560"/>
            <a:ext cx="3108960" cy="3383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F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這些症狀對生活、角色、routine 造成什麼影響？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434840" y="2743200"/>
            <a:ext cx="347472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DDD7CD">
                <a:alpha val="8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34840" y="2743200"/>
            <a:ext cx="73152" cy="1051560"/>
          </a:xfrm>
          <a:prstGeom prst="rect">
            <a:avLst/>
          </a:prstGeom>
          <a:solidFill>
            <a:srgbClr val="6F4F86"/>
          </a:solidFill>
          <a:ln w="12700">
            <a:solidFill>
              <a:srgbClr val="6F4F8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54296" y="2907792"/>
            <a:ext cx="310896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B243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檢查 Assessment/FOR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654296" y="3337560"/>
            <a:ext cx="3108960" cy="3383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F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你選它是想回答什麼臨床問題？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183880" y="2743200"/>
            <a:ext cx="347472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DDD7CD">
                <a:alpha val="8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2743200"/>
            <a:ext cx="73152" cy="1051560"/>
          </a:xfrm>
          <a:prstGeom prst="rect">
            <a:avLst/>
          </a:prstGeom>
          <a:solidFill>
            <a:srgbClr val="957341"/>
          </a:solidFill>
          <a:ln w="12700">
            <a:solidFill>
              <a:srgbClr val="95734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03336" y="2907792"/>
            <a:ext cx="310896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B243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要求 Revision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403336" y="3337560"/>
            <a:ext cx="3108960" cy="3383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F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討論後你會修改哪個假設？為什麼？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94360" y="6446520"/>
            <a:ext cx="685800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819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Sera.Phina Learning Lab · Teacher/Supervisor Training · 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786384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43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AI 在這套流程中的角色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987552"/>
            <a:ext cx="987552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F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AI 不是第一層答案，而是第二層 reflection partner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5120640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DD7CD">
                <a:alpha val="8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17320"/>
            <a:ext cx="73152" cy="1920240"/>
          </a:xfrm>
          <a:prstGeom prst="rect">
            <a:avLst/>
          </a:prstGeom>
          <a:solidFill>
            <a:srgbClr val="2F5D50"/>
          </a:solidFill>
          <a:ln w="12700">
            <a:solidFill>
              <a:srgbClr val="2F5D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0976" y="1581912"/>
            <a:ext cx="475488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B243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可以鼓勵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50976" y="2011680"/>
            <a:ext cx="4754880" cy="1207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F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找缺失資訊、指出推理跳躍、提出反證、整理不同解釋、產生查證問題。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55080" y="1417320"/>
            <a:ext cx="5120640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DD7CD">
                <a:alpha val="8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55080" y="1417320"/>
            <a:ext cx="73152" cy="1920240"/>
          </a:xfrm>
          <a:prstGeom prst="rect">
            <a:avLst/>
          </a:prstGeom>
          <a:solidFill>
            <a:srgbClr val="957341"/>
          </a:solidFill>
          <a:ln w="12700">
            <a:solidFill>
              <a:srgbClr val="95734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74536" y="1581912"/>
            <a:ext cx="475488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B243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需要避免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74536" y="2011680"/>
            <a:ext cx="4754880" cy="1207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F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直接貼案例要求 AI 給答案、把 AI 的診斷當事實、未查證就提交。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3749040"/>
            <a:ext cx="512064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7CD">
                <a:alpha val="8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3749040"/>
            <a:ext cx="73152" cy="1280160"/>
          </a:xfrm>
          <a:prstGeom prst="rect">
            <a:avLst/>
          </a:prstGeom>
          <a:solidFill>
            <a:srgbClr val="6F4F86"/>
          </a:solidFill>
          <a:ln w="12700">
            <a:solidFill>
              <a:srgbClr val="6F4F8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0976" y="3913632"/>
            <a:ext cx="475488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B243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教師追問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50976" y="4343400"/>
            <a:ext cx="4754880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F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你問 AI 前已經怎麼想？AI 哪一點讓你改變？哪一點你沒有接受？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55080" y="3749040"/>
            <a:ext cx="512064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7CD">
                <a:alpha val="8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55080" y="3749040"/>
            <a:ext cx="73152" cy="1280160"/>
          </a:xfrm>
          <a:prstGeom prst="rect">
            <a:avLst/>
          </a:prstGeom>
          <a:solidFill>
            <a:srgbClr val="957341"/>
          </a:solidFill>
          <a:ln w="12700">
            <a:solidFill>
              <a:srgbClr val="95734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74536" y="3913632"/>
            <a:ext cx="475488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B243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隱私提醒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74536" y="4343400"/>
            <a:ext cx="4754880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F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避免輸入真實姓名、病歷號、電話、地址、學號等可識別資料。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" y="6446520"/>
            <a:ext cx="685800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819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Sera.Phina Learning Lab · Teacher/Supervisor Training · 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786384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43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形成性評量：看推理變化，不只看最後答案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987552"/>
            <a:ext cx="987552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F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可以觀察學生是否逐步形成更成熟的 reasoning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22960" y="1325880"/>
            <a:ext cx="493776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DDD7CD">
                <a:alpha val="8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325880"/>
            <a:ext cx="73152" cy="777240"/>
          </a:xfrm>
          <a:prstGeom prst="rect">
            <a:avLst/>
          </a:prstGeom>
          <a:solidFill>
            <a:srgbClr val="6F4F86"/>
          </a:solidFill>
          <a:ln w="12700">
            <a:solidFill>
              <a:srgbClr val="6F4F8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42416" y="1490472"/>
            <a:ext cx="457200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B243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1. 描述與推論分開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42416" y="1920240"/>
            <a:ext cx="4572000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09360" y="1325880"/>
            <a:ext cx="493776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DDD7CD">
                <a:alpha val="8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09360" y="1325880"/>
            <a:ext cx="73152" cy="777240"/>
          </a:xfrm>
          <a:prstGeom prst="rect">
            <a:avLst/>
          </a:prstGeom>
          <a:solidFill>
            <a:srgbClr val="2F5D50"/>
          </a:solidFill>
          <a:ln w="12700">
            <a:solidFill>
              <a:srgbClr val="2F5D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28816" y="1490472"/>
            <a:ext cx="457200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B243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2. 提出支持與反對資料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28816" y="1920240"/>
            <a:ext cx="4572000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" y="2468880"/>
            <a:ext cx="493776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DDD7CD">
                <a:alpha val="8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2468880"/>
            <a:ext cx="73152" cy="777240"/>
          </a:xfrm>
          <a:prstGeom prst="rect">
            <a:avLst/>
          </a:prstGeom>
          <a:solidFill>
            <a:srgbClr val="957341"/>
          </a:solidFill>
          <a:ln w="12700">
            <a:solidFill>
              <a:srgbClr val="95734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2416" y="2633472"/>
            <a:ext cx="457200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B243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3. 辨識 Missing Information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42416" y="3063240"/>
            <a:ext cx="4572000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09360" y="2468880"/>
            <a:ext cx="493776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DDD7CD">
                <a:alpha val="8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09360" y="2468880"/>
            <a:ext cx="73152" cy="777240"/>
          </a:xfrm>
          <a:prstGeom prst="rect">
            <a:avLst/>
          </a:prstGeom>
          <a:solidFill>
            <a:srgbClr val="6F4F86"/>
          </a:solidFill>
          <a:ln w="12700">
            <a:solidFill>
              <a:srgbClr val="6F4F8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28816" y="2633472"/>
            <a:ext cx="457200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B243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4. 從 diagnosis 回到 occupation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28816" y="3063240"/>
            <a:ext cx="4572000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2960" y="3611880"/>
            <a:ext cx="493776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DDD7CD">
                <a:alpha val="8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" y="3611880"/>
            <a:ext cx="73152" cy="777240"/>
          </a:xfrm>
          <a:prstGeom prst="rect">
            <a:avLst/>
          </a:prstGeom>
          <a:solidFill>
            <a:srgbClr val="2F5D50"/>
          </a:solidFill>
          <a:ln w="12700">
            <a:solidFill>
              <a:srgbClr val="2F5D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42416" y="3776472"/>
            <a:ext cx="457200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B243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5. 說明 assessment / FOR 選擇理由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42416" y="4206240"/>
            <a:ext cx="4572000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09360" y="3611880"/>
            <a:ext cx="493776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DDD7CD">
                <a:alpha val="8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09360" y="3611880"/>
            <a:ext cx="73152" cy="777240"/>
          </a:xfrm>
          <a:prstGeom prst="rect">
            <a:avLst/>
          </a:prstGeom>
          <a:solidFill>
            <a:srgbClr val="957341"/>
          </a:solidFill>
          <a:ln w="12700">
            <a:solidFill>
              <a:srgbClr val="95734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28816" y="3776472"/>
            <a:ext cx="457200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B243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6. 回饋後修正原本 reasoning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528816" y="4206240"/>
            <a:ext cx="4572000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94360" y="6446520"/>
            <a:ext cx="685800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819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Sera.Phina Learning Lab · Teacher/Supervisor Training · 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786384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43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如何放進課程或督導？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987552"/>
            <a:ext cx="987552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F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工具最好出現在學生需要外顯化思考的節點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68680" y="1417320"/>
            <a:ext cx="320040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DDD7CD">
                <a:alpha val="8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417320"/>
            <a:ext cx="73152" cy="2148840"/>
          </a:xfrm>
          <a:prstGeom prst="rect">
            <a:avLst/>
          </a:prstGeom>
          <a:solidFill>
            <a:srgbClr val="6F4F86"/>
          </a:solidFill>
          <a:ln w="12700">
            <a:solidFill>
              <a:srgbClr val="6F4F8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8136" y="1581912"/>
            <a:ext cx="283464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B243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課前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88136" y="2011680"/>
            <a:ext cx="2834640" cy="1435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F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學生先完成初步 reasoning。老師進課堂前即可知道學生卡在哪裡。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80560" y="1417320"/>
            <a:ext cx="320040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DDD7CD">
                <a:alpha val="8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80560" y="1417320"/>
            <a:ext cx="73152" cy="2148840"/>
          </a:xfrm>
          <a:prstGeom prst="rect">
            <a:avLst/>
          </a:prstGeom>
          <a:solidFill>
            <a:srgbClr val="2F5D50"/>
          </a:solidFill>
          <a:ln w="12700">
            <a:solidFill>
              <a:srgbClr val="2F5D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0016" y="1581912"/>
            <a:ext cx="283464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B243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課中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700016" y="2011680"/>
            <a:ext cx="2834640" cy="1435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F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用學生輸出進行小組討論，比較不同推理路徑，追問「為什麼這樣想」。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92440" y="1417320"/>
            <a:ext cx="320040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DDD7CD">
                <a:alpha val="8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92440" y="1417320"/>
            <a:ext cx="73152" cy="2148840"/>
          </a:xfrm>
          <a:prstGeom prst="rect">
            <a:avLst/>
          </a:prstGeom>
          <a:solidFill>
            <a:srgbClr val="957341"/>
          </a:solidFill>
          <a:ln w="12700">
            <a:solidFill>
              <a:srgbClr val="95734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11896" y="1581912"/>
            <a:ext cx="283464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B243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課後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11896" y="2011680"/>
            <a:ext cx="2834640" cy="1435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F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學生依回饋修改原本 reasoning trace，留下前後差異。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51560" y="4663440"/>
            <a:ext cx="1005840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B243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最小可行做法：不要一次導入全部 Lab；先挑一個課堂案例，用 Lab 03 做一次「推理→回饋→修正」。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94360" y="6446520"/>
            <a:ext cx="685800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819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Sera.Phina Learning Lab · Teacher/Supervisor Training · 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786384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43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現場實作：一個案例，三層討論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987552"/>
            <a:ext cx="987552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F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讓老師先體驗學生會卡在哪裡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85800" y="1554480"/>
            <a:ext cx="3383280" cy="2377440"/>
          </a:xfrm>
          <a:prstGeom prst="roundRect">
            <a:avLst>
              <a:gd name="adj" fmla="val 2692"/>
            </a:avLst>
          </a:prstGeom>
          <a:solidFill>
            <a:srgbClr val="FFFFFF"/>
          </a:solidFill>
          <a:ln w="12700">
            <a:solidFill>
              <a:srgbClr val="DDD7CD">
                <a:alpha val="8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554480"/>
            <a:ext cx="73152" cy="2377440"/>
          </a:xfrm>
          <a:prstGeom prst="rect">
            <a:avLst/>
          </a:prstGeom>
          <a:solidFill>
            <a:srgbClr val="6F4F86"/>
          </a:solidFill>
          <a:ln w="12700">
            <a:solidFill>
              <a:srgbClr val="6F4F8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05256" y="1719072"/>
            <a:ext cx="301752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B243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第一層：學生自己填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05256" y="2148840"/>
            <a:ext cx="3017520" cy="16642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F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Known facts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F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Symptoms/signs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F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Hypotheses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F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Evidence against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F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Missing Information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1554480"/>
            <a:ext cx="3383280" cy="2377440"/>
          </a:xfrm>
          <a:prstGeom prst="roundRect">
            <a:avLst>
              <a:gd name="adj" fmla="val 2692"/>
            </a:avLst>
          </a:prstGeom>
          <a:solidFill>
            <a:srgbClr val="FFFFFF"/>
          </a:solidFill>
          <a:ln w="12700">
            <a:solidFill>
              <a:srgbClr val="DDD7CD">
                <a:alpha val="8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89120" y="1554480"/>
            <a:ext cx="73152" cy="2377440"/>
          </a:xfrm>
          <a:prstGeom prst="rect">
            <a:avLst/>
          </a:prstGeom>
          <a:solidFill>
            <a:srgbClr val="2F5D50"/>
          </a:solidFill>
          <a:ln w="12700">
            <a:solidFill>
              <a:srgbClr val="2F5D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08576" y="1719072"/>
            <a:ext cx="301752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B243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第二層：小組互相追問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08576" y="2148840"/>
            <a:ext cx="3017520" cy="16642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F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哪裡是推論？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F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哪裡資料不足？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F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如果假設錯了呢？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F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occupation 在哪裡？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92440" y="1554480"/>
            <a:ext cx="3383280" cy="2377440"/>
          </a:xfrm>
          <a:prstGeom prst="roundRect">
            <a:avLst>
              <a:gd name="adj" fmla="val 2692"/>
            </a:avLst>
          </a:prstGeom>
          <a:solidFill>
            <a:srgbClr val="FFFFFF"/>
          </a:solidFill>
          <a:ln w="12700">
            <a:solidFill>
              <a:srgbClr val="DDD7CD">
                <a:alpha val="8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92440" y="1554480"/>
            <a:ext cx="73152" cy="2377440"/>
          </a:xfrm>
          <a:prstGeom prst="rect">
            <a:avLst/>
          </a:prstGeom>
          <a:solidFill>
            <a:srgbClr val="957341"/>
          </a:solidFill>
          <a:ln w="12700">
            <a:solidFill>
              <a:srgbClr val="95734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11896" y="1719072"/>
            <a:ext cx="301752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B243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第三層：老師回饋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11896" y="2148840"/>
            <a:ext cx="3017520" cy="16642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F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不公布答案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F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追問 reasoning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F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要求修正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F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留下思考變化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6446520"/>
            <a:ext cx="685800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819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Sera.Phina Learning Lab · Teacher/Supervisor Training · 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786384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43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常見卡點與帶領方法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987552"/>
            <a:ext cx="987552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F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把問題從「你答錯了」改成「我們檢查你的推理」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508760"/>
            <a:ext cx="516636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D7CD">
                <a:alpha val="8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508760"/>
            <a:ext cx="73152" cy="960120"/>
          </a:xfrm>
          <a:prstGeom prst="rect">
            <a:avLst/>
          </a:prstGeom>
          <a:solidFill>
            <a:srgbClr val="6F4F86"/>
          </a:solidFill>
          <a:ln w="12700">
            <a:solidFill>
              <a:srgbClr val="6F4F8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0976" y="1673352"/>
            <a:ext cx="480060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B243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太快下診斷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50976" y="2103120"/>
            <a:ext cx="4800600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F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追問：哪些是事實？哪些是你的推論？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09360" y="1508760"/>
            <a:ext cx="516636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D7CD">
                <a:alpha val="8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09360" y="1508760"/>
            <a:ext cx="73152" cy="960120"/>
          </a:xfrm>
          <a:prstGeom prst="rect">
            <a:avLst/>
          </a:prstGeom>
          <a:solidFill>
            <a:srgbClr val="2F5D50"/>
          </a:solidFill>
          <a:ln w="12700">
            <a:solidFill>
              <a:srgbClr val="2F5D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28816" y="1673352"/>
            <a:ext cx="480060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B243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只列支持證據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28816" y="2103120"/>
            <a:ext cx="4800600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F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追問：如果第一個假設錯了，還有哪些可能？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606040"/>
            <a:ext cx="516636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D7CD">
                <a:alpha val="8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2606040"/>
            <a:ext cx="73152" cy="960120"/>
          </a:xfrm>
          <a:prstGeom prst="rect">
            <a:avLst/>
          </a:prstGeom>
          <a:solidFill>
            <a:srgbClr val="957341"/>
          </a:solidFill>
          <a:ln w="12700">
            <a:solidFill>
              <a:srgbClr val="95734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0976" y="2770632"/>
            <a:ext cx="480060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B243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停在診斷不談 OT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50976" y="3200400"/>
            <a:ext cx="4800600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F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追問：這件事如何影響他的 occupation？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09360" y="2606040"/>
            <a:ext cx="516636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D7CD">
                <a:alpha val="8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09360" y="2606040"/>
            <a:ext cx="73152" cy="960120"/>
          </a:xfrm>
          <a:prstGeom prst="rect">
            <a:avLst/>
          </a:prstGeom>
          <a:solidFill>
            <a:srgbClr val="6F4F86"/>
          </a:solidFill>
          <a:ln w="12700">
            <a:solidFill>
              <a:srgbClr val="6F4F8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28816" y="2770632"/>
            <a:ext cx="480060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B243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過度依賴 AI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28816" y="3200400"/>
            <a:ext cx="4800600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F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追問：你問 AI 前的想法是什麼？你不接受 AI 哪一點？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4069080"/>
            <a:ext cx="516636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D7CD">
                <a:alpha val="8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4069080"/>
            <a:ext cx="73152" cy="960120"/>
          </a:xfrm>
          <a:prstGeom prst="rect">
            <a:avLst/>
          </a:prstGeom>
          <a:solidFill>
            <a:srgbClr val="2F5D50"/>
          </a:solidFill>
          <a:ln w="12700">
            <a:solidFill>
              <a:srgbClr val="2F5D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0976" y="4233672"/>
            <a:ext cx="480060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B243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回饋後沒有修正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50976" y="4663440"/>
            <a:ext cx="4800600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F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追問：討論後你會刪掉、保留或新增哪個假設？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4360" y="6446520"/>
            <a:ext cx="685800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819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Sera.Phina Learning Lab · Teacher/Supervisor Training · 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786384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43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你的第一個小型導入設計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987552"/>
            <a:ext cx="987552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F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先從一次課堂或一次督導開始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85800" y="1463040"/>
            <a:ext cx="347472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DDD7CD">
                <a:alpha val="8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63040"/>
            <a:ext cx="73152" cy="1005840"/>
          </a:xfrm>
          <a:prstGeom prst="rect">
            <a:avLst/>
          </a:prstGeom>
          <a:solidFill>
            <a:srgbClr val="6F4F86"/>
          </a:solidFill>
          <a:ln w="12700">
            <a:solidFill>
              <a:srgbClr val="6F4F8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05256" y="1627632"/>
            <a:ext cx="310896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B243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1. 選一個情境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05256" y="2057400"/>
            <a:ext cx="310896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F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課前預習、課中討論、實習督導、OSCE 前練習。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34840" y="1463040"/>
            <a:ext cx="347472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DDD7CD">
                <a:alpha val="8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34840" y="1463040"/>
            <a:ext cx="73152" cy="1005840"/>
          </a:xfrm>
          <a:prstGeom prst="rect">
            <a:avLst/>
          </a:prstGeom>
          <a:solidFill>
            <a:srgbClr val="2F5D50"/>
          </a:solidFill>
          <a:ln w="12700">
            <a:solidFill>
              <a:srgbClr val="2F5D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54296" y="1627632"/>
            <a:ext cx="310896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B243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2. 選一個 Lab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54296" y="2057400"/>
            <a:ext cx="310896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F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不要一次導入全部工具。先選最符合當前學習目標的一個。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83880" y="1463040"/>
            <a:ext cx="347472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DDD7CD">
                <a:alpha val="8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83880" y="1463040"/>
            <a:ext cx="73152" cy="1005840"/>
          </a:xfrm>
          <a:prstGeom prst="rect">
            <a:avLst/>
          </a:prstGeom>
          <a:solidFill>
            <a:srgbClr val="957341"/>
          </a:solidFill>
          <a:ln w="12700">
            <a:solidFill>
              <a:srgbClr val="95734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03336" y="1627632"/>
            <a:ext cx="310896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B243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3. 選一種輸出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403336" y="2057400"/>
            <a:ext cx="310896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F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Clinical Reasoning Map、老師討論版、AI Reflection 或修正紀錄。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063240"/>
            <a:ext cx="3840480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DDD7CD">
                <a:alpha val="8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828800" y="3063240"/>
            <a:ext cx="73152" cy="1143000"/>
          </a:xfrm>
          <a:prstGeom prst="rect">
            <a:avLst/>
          </a:prstGeom>
          <a:solidFill>
            <a:srgbClr val="6F4F86"/>
          </a:solidFill>
          <a:ln w="12700">
            <a:solidFill>
              <a:srgbClr val="6F4F8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48256" y="3227832"/>
            <a:ext cx="347472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B243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4. 設計回饋問題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048256" y="3657600"/>
            <a:ext cx="3474720" cy="4297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F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先準備 2–3 個 feedback prompts。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0" y="3063240"/>
            <a:ext cx="3840480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DDD7CD">
                <a:alpha val="8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0" y="3063240"/>
            <a:ext cx="73152" cy="1143000"/>
          </a:xfrm>
          <a:prstGeom prst="rect">
            <a:avLst/>
          </a:prstGeom>
          <a:solidFill>
            <a:srgbClr val="2F5D50"/>
          </a:solidFill>
          <a:ln w="12700">
            <a:solidFill>
              <a:srgbClr val="2F5D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20256" y="3227832"/>
            <a:ext cx="347472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B243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5. 要求 Revision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620256" y="3657600"/>
            <a:ext cx="3474720" cy="4297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F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讓學生明確寫出討論後修改了什麼。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4360" y="6446520"/>
            <a:ext cx="685800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819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Sera.Phina Learning Lab · Teacher/Supervisor Training · 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786384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43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結語：工具只是容器，教學發生在回饋之後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987552"/>
            <a:ext cx="987552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F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Sera.Phina 的價值，是讓學生能看見自己的思考正在如何改變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68680" y="1645920"/>
            <a:ext cx="10241280" cy="11887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43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真正重要的不是學生最後寫出什麼答案，而是他能說明：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2B243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我原本怎麼想、什麼讓我改變、現在我怎麼想，以及下一步還需要知道什麼。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960120" y="3886200"/>
            <a:ext cx="301752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D7CD">
                <a:alpha val="8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3886200"/>
            <a:ext cx="73152" cy="914400"/>
          </a:xfrm>
          <a:prstGeom prst="rect">
            <a:avLst/>
          </a:prstGeom>
          <a:solidFill>
            <a:srgbClr val="6F4F86"/>
          </a:solidFill>
          <a:ln w="12700">
            <a:solidFill>
              <a:srgbClr val="6F4F8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79576" y="4050792"/>
            <a:ext cx="265176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B243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Think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79576" y="4480560"/>
            <a:ext cx="265176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F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先自己想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0" y="3886200"/>
            <a:ext cx="301752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D7CD">
                <a:alpha val="8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3886200"/>
            <a:ext cx="73152" cy="914400"/>
          </a:xfrm>
          <a:prstGeom prst="rect">
            <a:avLst/>
          </a:prstGeom>
          <a:solidFill>
            <a:srgbClr val="2F5D50"/>
          </a:solidFill>
          <a:ln w="12700">
            <a:solidFill>
              <a:srgbClr val="2F5D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91456" y="4050792"/>
            <a:ext cx="265176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B243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Discuss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91456" y="4480560"/>
            <a:ext cx="265176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F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與老師／督導討論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83880" y="3886200"/>
            <a:ext cx="301752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D7CD">
                <a:alpha val="8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83880" y="3886200"/>
            <a:ext cx="73152" cy="914400"/>
          </a:xfrm>
          <a:prstGeom prst="rect">
            <a:avLst/>
          </a:prstGeom>
          <a:solidFill>
            <a:srgbClr val="957341"/>
          </a:solidFill>
          <a:ln w="12700">
            <a:solidFill>
              <a:srgbClr val="95734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03336" y="4050792"/>
            <a:ext cx="265176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B243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Revise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03336" y="4480560"/>
            <a:ext cx="265176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F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回來修正推理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6446520"/>
            <a:ext cx="685800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B819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Sera.Phina Learning Lab · Teacher/Supervisor Training · 14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T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T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Allen Mind 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Sera.Phina 教師／督導教育訓練</dc:title>
  <dc:subject>Sera.Phina 教師／督導教育訓練</dc:subject>
  <dc:creator>Sera.Phina</dc:creator>
  <cp:lastModifiedBy>Sera.Phina</cp:lastModifiedBy>
  <cp:revision>1</cp:revision>
  <dcterms:created xsi:type="dcterms:W3CDTF">2026-10-02T06:36:19Z</dcterms:created>
  <dcterms:modified xsi:type="dcterms:W3CDTF">2026-10-02T06:36:19Z</dcterms:modified>
</cp:coreProperties>
</file>